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FIAP AI Scientist • Tech Challenge Fase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766560" y="651967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Predição e Inteligência Analítica para Alfabetização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685800"/>
            <a:ext cx="3063240" cy="3063240"/>
          </a:xfrm>
          <a:prstGeom prst="ellipse">
            <a:avLst/>
          </a:prstGeom>
          <a:solidFill>
            <a:srgbClr val="123B66">
              <a:alpha val="88000"/>
            </a:srgbClr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9720" y="1490472"/>
            <a:ext cx="1965960" cy="1965960"/>
          </a:xfrm>
          <a:prstGeom prst="ellipse">
            <a:avLst/>
          </a:prstGeom>
          <a:solidFill>
            <a:srgbClr val="16A6A6">
              <a:alpha val="93000"/>
            </a:srgbClr>
          </a:solidFill>
          <a:ln w="12700">
            <a:solidFill>
              <a:srgbClr val="16A6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0656" y="2103120"/>
            <a:ext cx="749808" cy="749808"/>
          </a:xfrm>
          <a:prstGeom prst="ellipse">
            <a:avLst/>
          </a:prstGeom>
          <a:solidFill>
            <a:srgbClr val="F1B94C"/>
          </a:solidFill>
          <a:ln w="12700">
            <a:solidFill>
              <a:srgbClr val="F1B9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Predição e Inteligência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Analítica para Alfabetização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dado público ao risco educacional interpretável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3675888"/>
            <a:ext cx="2331720" cy="310896"/>
          </a:xfrm>
          <a:prstGeom prst="roundRect">
            <a:avLst>
              <a:gd name="adj" fmla="val 35294"/>
            </a:avLst>
          </a:prstGeom>
          <a:solidFill>
            <a:srgbClr val="173C64"/>
          </a:solidFill>
          <a:ln w="12700">
            <a:solidFill>
              <a:srgbClr val="173C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39896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D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CHALLENGE • FASE 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43159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• INEP • Censo Escolar • IBGE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5943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3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executiva — 5 minutos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O problema e os dados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Estimar risco de não alfabetização combinando evidência educacional e contexto territorial.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9047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INEP • Avaliação 2024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72384" y="1389888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45536" y="149047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Censo Escolar 2023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67528" y="1389888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490472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IBGE 2022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23760" y="1389888"/>
            <a:ext cx="502920" cy="411480"/>
          </a:xfrm>
          <a:prstGeom prst="chevron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1252728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E7F6F5"/>
          </a:solidFill>
          <a:ln w="12700">
            <a:solidFill>
              <a:srgbClr val="B8E1DF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4264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risco_nao_alfabetizado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2148840"/>
            <a:ext cx="3886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4323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modelagem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8680" y="2971800"/>
            <a:ext cx="1051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2971800"/>
            <a:ext cx="73152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1181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5.000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33272" y="354787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alunos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39112" y="2971800"/>
            <a:ext cx="1051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39112" y="2971800"/>
            <a:ext cx="73152" cy="1005840"/>
          </a:xfrm>
          <a:prstGeom prst="rect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31181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2203704" y="354787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9544" y="2971800"/>
            <a:ext cx="1051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9544" y="2971800"/>
            <a:ext cx="73152" cy="1005840"/>
          </a:xfrm>
          <a:prstGeom prst="rect">
            <a:avLst/>
          </a:prstGeom>
          <a:solidFill>
            <a:srgbClr val="E86C5B"/>
          </a:solidFill>
          <a:ln w="12700">
            <a:solidFill>
              <a:srgbClr val="E86C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31181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47,6%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3374136" y="354787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de risco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4315968"/>
            <a:ext cx="3246120" cy="111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educacional municipal anterior ao target.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Infraestrutura escolar agregada por município.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demográfico e socioeconômico.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736592" y="2148840"/>
            <a:ext cx="6784848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pic>
        <p:nvPicPr>
          <p:cNvPr id="29" name="Image 0" descr="/mnt/data/eda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359152"/>
            <a:ext cx="4544568" cy="32461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010912" y="5458968"/>
            <a:ext cx="6263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classe está relativamente equilibrada — não foi necessário rebalanceamento artificial.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Pipeline: da engenharia de dados ao modelo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foco foi reprodutibilidade, prevenção de leakage e interpretabilidade.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205740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2376" y="2386584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761488"/>
            <a:ext cx="1234440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56816" y="2185416"/>
            <a:ext cx="292608" cy="320040"/>
          </a:xfrm>
          <a:prstGeom prst="chevron">
            <a:avLst/>
          </a:prstGeom>
          <a:solidFill>
            <a:srgbClr val="9BB0C4"/>
          </a:solidFill>
          <a:ln w="12700">
            <a:solidFill>
              <a:srgbClr val="9BB0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8745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7F6F5"/>
          </a:solidFill>
          <a:ln w="12700">
            <a:solidFill>
              <a:srgbClr val="E7F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205740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Enriquecimento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95728" y="2386584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Censo + IBGE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2761488"/>
            <a:ext cx="1234440" cy="73152"/>
          </a:xfrm>
          <a:prstGeom prst="rect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0168" y="2185416"/>
            <a:ext cx="292608" cy="320040"/>
          </a:xfrm>
          <a:prstGeom prst="chevron">
            <a:avLst/>
          </a:prstGeom>
          <a:solidFill>
            <a:srgbClr val="9BB0C4"/>
          </a:solidFill>
          <a:ln w="12700">
            <a:solidFill>
              <a:srgbClr val="9BB0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5072" y="18745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05740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Curadoria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2386584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05072" y="2761488"/>
            <a:ext cx="1234440" cy="73152"/>
          </a:xfrm>
          <a:prstGeom prst="rect">
            <a:avLst/>
          </a:prstGeom>
          <a:solidFill>
            <a:srgbClr val="F1B94C"/>
          </a:solidFill>
          <a:ln w="12700">
            <a:solidFill>
              <a:srgbClr val="F1B9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185416"/>
            <a:ext cx="292608" cy="320040"/>
          </a:xfrm>
          <a:prstGeom prst="chevron">
            <a:avLst/>
          </a:prstGeom>
          <a:solidFill>
            <a:srgbClr val="9BB0C4"/>
          </a:solidFill>
          <a:ln w="12700">
            <a:solidFill>
              <a:srgbClr val="9BB0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78424" y="18745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205740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42432" y="2386584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escola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78424" y="2761488"/>
            <a:ext cx="1234440" cy="73152"/>
          </a:xfrm>
          <a:prstGeom prst="rect">
            <a:avLst/>
          </a:prstGeom>
          <a:solidFill>
            <a:srgbClr val="7A8A99"/>
          </a:solidFill>
          <a:ln w="12700">
            <a:solidFill>
              <a:srgbClr val="7A8A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76872" y="2185416"/>
            <a:ext cx="292608" cy="320040"/>
          </a:xfrm>
          <a:prstGeom prst="chevron">
            <a:avLst/>
          </a:prstGeom>
          <a:solidFill>
            <a:srgbClr val="9BB0C4"/>
          </a:solidFill>
          <a:ln w="12700">
            <a:solidFill>
              <a:srgbClr val="9BB0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1776" y="18745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7F6F5"/>
          </a:solidFill>
          <a:ln w="12700">
            <a:solidFill>
              <a:srgbClr val="E7F6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5740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Pré-process.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386584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51776" y="2761488"/>
            <a:ext cx="1234440" cy="73152"/>
          </a:xfrm>
          <a:prstGeom prst="rect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2185416"/>
            <a:ext cx="292608" cy="320040"/>
          </a:xfrm>
          <a:prstGeom prst="chevron">
            <a:avLst/>
          </a:prstGeom>
          <a:solidFill>
            <a:srgbClr val="9BB0C4"/>
          </a:solidFill>
          <a:ln w="12700">
            <a:solidFill>
              <a:srgbClr val="9BB0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25128" y="18745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9136" y="205740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89136" y="2386584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candidatos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25128" y="2761488"/>
            <a:ext cx="1234440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23576" y="2185416"/>
            <a:ext cx="292608" cy="320040"/>
          </a:xfrm>
          <a:prstGeom prst="chevron">
            <a:avLst/>
          </a:prstGeom>
          <a:solidFill>
            <a:srgbClr val="9BB0C4"/>
          </a:solidFill>
          <a:ln w="12700">
            <a:solidFill>
              <a:srgbClr val="9BB0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98480" y="18745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62488" y="205740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762488" y="2386584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698480" y="2761488"/>
            <a:ext cx="1234440" cy="73152"/>
          </a:xfrm>
          <a:prstGeom prst="rect">
            <a:avLst/>
          </a:prstGeom>
          <a:solidFill>
            <a:srgbClr val="F1B94C"/>
          </a:solidFill>
          <a:ln w="12700">
            <a:solidFill>
              <a:srgbClr val="F1B9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34290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41832" y="3703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 de data leakage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32688" y="4133088"/>
            <a:ext cx="47091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Proficiência e indicadores derivados de 2024 foram excluídos.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Identificadores não entram no modelo.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Imputação e encoding ocorrem dentro da pipeline.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245352" y="3429000"/>
            <a:ext cx="52852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10528" y="370332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Validação orientada à generalização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510528" y="4133088"/>
            <a:ext cx="4526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StratifiedGroupKFold com id_escola como grupo.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final de aproximadamente 20%.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 como critério central de seleção.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 risco observado é territorialmente heterogêneo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diferenças entre UFs aparecem já na análise exploratória da amostra.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74523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pic>
        <p:nvPicPr>
          <p:cNvPr id="5" name="Image 0" descr="/mnt/data/eda_risk_by_u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517904"/>
            <a:ext cx="5669280" cy="45354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66176" y="1325880"/>
            <a:ext cx="3246120" cy="48920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58784" y="166420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Leitura executiva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540496" y="2212848"/>
            <a:ext cx="26974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amostra exibe ampla dispersão entre estados.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Localização resume múltiplas diferenças estruturais e históricas.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isso, UF precisa ser tratada com cautela na interpretação.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40496" y="4599432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5DF"/>
          </a:solidFill>
          <a:ln w="12700">
            <a:solidFill>
              <a:srgbClr val="F6D8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4828032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6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é ranking oficial.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732520" y="512064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6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um retrato da amostra utilizada.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Modelo final: Logistic Regression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mais simples foi também o melhor na validação cruzada.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600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PR-AUC médio na validação cruzada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7824" y="2084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44368" y="2103120"/>
            <a:ext cx="2514600" cy="164592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2103120"/>
            <a:ext cx="2355987" cy="164592"/>
          </a:xfrm>
          <a:prstGeom prst="rect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3832" y="206654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0,609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25603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44368" y="2578608"/>
            <a:ext cx="2514600" cy="164592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4368" y="2578608"/>
            <a:ext cx="2181899" cy="164592"/>
          </a:xfrm>
          <a:prstGeom prst="rect">
            <a:avLst/>
          </a:prstGeom>
          <a:solidFill>
            <a:srgbClr val="91A7BA"/>
          </a:solidFill>
          <a:ln w="12700">
            <a:solidFill>
              <a:srgbClr val="91A7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3832" y="2542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0,564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" y="30358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HistGradientBoosting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44368" y="3054096"/>
            <a:ext cx="2514600" cy="164592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44368" y="3054096"/>
            <a:ext cx="2174162" cy="164592"/>
          </a:xfrm>
          <a:prstGeom prst="rect">
            <a:avLst/>
          </a:prstGeom>
          <a:solidFill>
            <a:srgbClr val="91A7BA"/>
          </a:solidFill>
          <a:ln w="12700">
            <a:solidFill>
              <a:srgbClr val="91A7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3832" y="3017520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0,562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904488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904488"/>
            <a:ext cx="73152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050792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56,6%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58952" y="44805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57400" y="3904488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57400" y="3904488"/>
            <a:ext cx="73152" cy="1005840"/>
          </a:xfrm>
          <a:prstGeom prst="rect">
            <a:avLst/>
          </a:prstGeom>
          <a:solidFill>
            <a:srgbClr val="E86C5B"/>
          </a:solidFill>
          <a:ln w="12700">
            <a:solidFill>
              <a:srgbClr val="E86C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21992" y="4050792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54,7%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2221992" y="44805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risco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20440" y="3904488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20440" y="3904488"/>
            <a:ext cx="73152" cy="1005840"/>
          </a:xfrm>
          <a:prstGeom prst="rect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4050792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0,611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3685032" y="44805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3904488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3904488"/>
            <a:ext cx="73152" cy="1005840"/>
          </a:xfrm>
          <a:prstGeom prst="rect">
            <a:avLst/>
          </a:prstGeom>
          <a:solidFill>
            <a:srgbClr val="F1B94C"/>
          </a:solidFill>
          <a:ln w="12700">
            <a:solidFill>
              <a:srgbClr val="F1B9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4050792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0,565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5148072" y="44805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50932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final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73952" y="1325880"/>
            <a:ext cx="505663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pic>
        <p:nvPicPr>
          <p:cNvPr id="36" name="Image 0" descr="/mnt/data/ml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3740" y="1554480"/>
            <a:ext cx="3886200" cy="38862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812280" y="550468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Desempenho moderado: útil como ferramenta de triagem analítica, não como decisão automática.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O que mais influencia as previsões?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ajuda a explicar o comportamento do modelo — não estabelece causalidade.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73152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pic>
        <p:nvPicPr>
          <p:cNvPr id="5" name="Image 0" descr="/mnt/data/ml_shap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093" y="1554480"/>
            <a:ext cx="4944310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6448" y="1325880"/>
            <a:ext cx="3355848" cy="4937760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8200" y="1673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fatores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449056" y="2194560"/>
            <a:ext cx="310896" cy="310896"/>
          </a:xfrm>
          <a:prstGeom prst="ellipse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49056" y="225856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887968" y="21854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UF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887968" y="24323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territorial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449056" y="2798064"/>
            <a:ext cx="310896" cy="310896"/>
          </a:xfrm>
          <a:prstGeom prst="ellipse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49056" y="286207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887968" y="27889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Alfabetização 2023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887968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Persistência histórica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449056" y="3401568"/>
            <a:ext cx="310896" cy="310896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49056" y="34655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887968" y="33924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887968" y="36393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 administrativa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49056" y="4005072"/>
            <a:ext cx="310896" cy="310896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406908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887968" y="39959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Lab. informática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887968" y="42428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Infraestrutura escolar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8449056" y="4608576"/>
            <a:ext cx="310896" cy="310896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49056" y="467258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887968" y="45994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2024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887968" y="48463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de desempenho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8412480" y="544068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DEDEA"/>
          </a:solidFill>
          <a:ln w="12700">
            <a:solidFill>
              <a:srgbClr val="F3B8B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22792" y="562356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9B3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Importância ≠ efeito causal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Teste de robustez: e se retirarmos a UF?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resposta ajuda a verificar se o modelo apenas “memoriza” diferenças territoriais.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74523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pic>
        <p:nvPicPr>
          <p:cNvPr id="5" name="Image 0" descr="/mnt/data/ml_robustez_sem_sigla_u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03134"/>
            <a:ext cx="7040880" cy="41649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47888" y="1325880"/>
            <a:ext cx="3273552" cy="4892040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40496" y="1682496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485632" y="2176272"/>
            <a:ext cx="271576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85632" y="2176272"/>
            <a:ext cx="73152" cy="1005840"/>
          </a:xfrm>
          <a:prstGeom prst="rect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0224" y="23225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+5,0 p.p.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650224" y="275234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de risco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85632" y="3328416"/>
            <a:ext cx="271576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85632" y="3328416"/>
            <a:ext cx="73152" cy="1005840"/>
          </a:xfrm>
          <a:prstGeom prst="rect">
            <a:avLst/>
          </a:prstGeom>
          <a:solidFill>
            <a:srgbClr val="F1B94C"/>
          </a:solidFill>
          <a:ln w="12700">
            <a:solidFill>
              <a:srgbClr val="F1B9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50224" y="34747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−1,8 p.p.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650224" y="390448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503920" y="4590288"/>
            <a:ext cx="26517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remoção de sigla_uf não destrói o desempenho. O sinal permanece distribuído em variáveis educacionais, estruturais e socioeconômicas.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Implicações para políticas públicas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maior valor do modelo está em apoiar priorização e investigação — não em automatizar decisões.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44752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44752"/>
            <a:ext cx="2606040" cy="822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0078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Detecção antecipada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6384" y="2157984"/>
            <a:ext cx="227685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probabilidades de risco como sinal de triagem para orientar análise humana e ações preventivas.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419856" y="1444752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19856" y="1444752"/>
            <a:ext cx="2606040" cy="82296"/>
          </a:xfrm>
          <a:prstGeom prst="rect">
            <a:avLst/>
          </a:prstGeom>
          <a:solidFill>
            <a:srgbClr val="16A6A6"/>
          </a:solidFill>
          <a:ln w="12700">
            <a:solidFill>
              <a:srgbClr val="16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70078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Foco territorial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84448" y="2157984"/>
            <a:ext cx="227685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risco previsto com histórico municipal para priorizar territórios que exigem diagnóstico mais profundo.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217920" y="1444752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44752"/>
            <a:ext cx="2606040" cy="82296"/>
          </a:xfrm>
          <a:prstGeom prst="rect">
            <a:avLst/>
          </a:prstGeom>
          <a:solidFill>
            <a:srgbClr val="F1B94C"/>
          </a:solidFill>
          <a:ln w="12700">
            <a:solidFill>
              <a:srgbClr val="F1B9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70078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Infraestrutura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82512" y="2157984"/>
            <a:ext cx="227685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fatores associados como hipóteses para investigar gargalos de laboratório, leitura, saneamento e estrutura escolar.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9015984" y="1444752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15984" y="1444752"/>
            <a:ext cx="2542032" cy="82296"/>
          </a:xfrm>
          <a:prstGeom prst="rect">
            <a:avLst/>
          </a:prstGeom>
          <a:solidFill>
            <a:srgbClr val="E86C5B"/>
          </a:solidFill>
          <a:ln w="12700">
            <a:solidFill>
              <a:srgbClr val="E86C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170078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Governança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80576" y="2157984"/>
            <a:ext cx="22128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Monitorar fairness, calibração, drift e desempenho por UF antes de qualquer uso operacional.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58368" y="37033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D2A4A"/>
          </a:solidFill>
          <a:ln w="12700">
            <a:solidFill>
              <a:srgbClr val="0D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986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Princípio de uso responsável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31920" y="3913632"/>
            <a:ext cx="71323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2EB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score deve apoiar a decisão pública em nível agregado, complementado por evidência pedagógica e avaliação humana. Não deve classificar, punir ou estigmatizar alunos individualmente.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914400" y="5532120"/>
            <a:ext cx="10241280" cy="0"/>
          </a:xfrm>
          <a:prstGeom prst="line">
            <a:avLst/>
          </a:prstGeom>
          <a:noFill/>
          <a:ln w="12700">
            <a:solidFill>
              <a:srgbClr val="CCD7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73328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Conclusão: o projeto transforma dados públicos em inteligência analítica explicável — com limites claramente documentados.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e Inteligência Analítica para Alfabetização no Brasil</dc:title>
  <dc:subject>FIAP AI Scientist - Tech Challenge Fase 3</dc:subject>
  <dc:creator>OpenAI</dc:creator>
  <cp:lastModifiedBy>OpenAI</cp:lastModifiedBy>
  <cp:revision>1</cp:revision>
  <dcterms:created xsi:type="dcterms:W3CDTF">2026-09-15T00:10:37Z</dcterms:created>
  <dcterms:modified xsi:type="dcterms:W3CDTF">2026-09-15T00:10:37Z</dcterms:modified>
</cp:coreProperties>
</file>